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58368" y="502920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5E9491"/>
                </a:solidFill>
                <a:latin typeface="Aptos"/>
              </a:defRPr>
            </a:pPr>
            <a:r>
              <a:t>A COMPUTER VISION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60120"/>
            <a:ext cx="6583680" cy="2286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3500" b="1" i="0">
                <a:solidFill>
                  <a:srgbClr val="234353"/>
                </a:solidFill>
                <a:latin typeface="Aptos Display"/>
              </a:defRPr>
            </a:pPr>
            <a:r>
              <a:t>NIGHTTIME</a:t>
            </a:r>
          </a:p>
          <a:p>
            <a:pPr algn="l">
              <a:spcAft>
                <a:spcPts val="400"/>
              </a:spcAft>
              <a:defRPr sz="3500" b="1" i="0">
                <a:solidFill>
                  <a:srgbClr val="234353"/>
                </a:solidFill>
                <a:latin typeface="Aptos Display"/>
              </a:defRPr>
            </a:pPr>
            <a:r>
              <a:t>POTHOLE</a:t>
            </a:r>
          </a:p>
          <a:p>
            <a:pPr algn="l">
              <a:spcAft>
                <a:spcPts val="400"/>
              </a:spcAft>
              <a:defRPr sz="3500" b="1" i="0">
                <a:solidFill>
                  <a:srgbClr val="234353"/>
                </a:solidFill>
                <a:latin typeface="Aptos Display"/>
              </a:defRPr>
            </a:pPr>
            <a:r>
              <a:t>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429000"/>
            <a:ext cx="59436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0" i="1">
                <a:solidFill>
                  <a:srgbClr val="707775"/>
                </a:solidFill>
                <a:latin typeface="Aptos"/>
              </a:defRPr>
            </a:pPr>
            <a:r>
              <a:t>Detecting road damage when visibility is at its worst.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4133087"/>
            <a:ext cx="6035040" cy="22860"/>
          </a:xfrm>
          <a:prstGeom prst="rect">
            <a:avLst/>
          </a:prstGeom>
          <a:solidFill>
            <a:srgbClr val="E08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4315968"/>
            <a:ext cx="6126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32B2F"/>
                </a:solidFill>
                <a:latin typeface="Aptos"/>
              </a:defRPr>
            </a:pPr>
            <a:r>
              <a:t>IMAGE PROCESSING AND COMPUTER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645152"/>
            <a:ext cx="6126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707775"/>
                </a:solidFill>
                <a:latin typeface="Aptos"/>
              </a:defRPr>
            </a:pPr>
            <a:r>
              <a:t>Motilal Nehru National Institute of Technology Allahabad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102352"/>
            <a:ext cx="5669280" cy="10241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232B2F"/>
                </a:solidFill>
                <a:latin typeface="Aptos"/>
              </a:defRPr>
            </a:pPr>
            <a:r>
              <a:t>Ruchir Tripathi  ·  20235068</a:t>
            </a:r>
          </a:p>
          <a:p>
            <a:pPr algn="l">
              <a:spcAft>
                <a:spcPts val="400"/>
              </a:spcAft>
              <a:defRPr sz="1000" b="0" i="0">
                <a:solidFill>
                  <a:srgbClr val="232B2F"/>
                </a:solidFill>
                <a:latin typeface="Aptos"/>
              </a:defRPr>
            </a:pPr>
            <a:r>
              <a:t>Tanmay Paul  ·  20233292</a:t>
            </a:r>
          </a:p>
          <a:p>
            <a:pPr algn="l">
              <a:spcAft>
                <a:spcPts val="400"/>
              </a:spcAft>
              <a:defRPr sz="1000" b="0" i="0">
                <a:solidFill>
                  <a:srgbClr val="232B2F"/>
                </a:solidFill>
                <a:latin typeface="Aptos"/>
              </a:defRPr>
            </a:pPr>
            <a:r>
              <a:t>Souvik Sarkar  ·  20233275</a:t>
            </a:r>
          </a:p>
          <a:p>
            <a:pPr algn="l">
              <a:spcAft>
                <a:spcPts val="400"/>
              </a:spcAft>
              <a:defRPr sz="1000" b="0" i="0">
                <a:solidFill>
                  <a:srgbClr val="232B2F"/>
                </a:solidFill>
                <a:latin typeface="Aptos"/>
              </a:defRPr>
            </a:pPr>
            <a:r>
              <a:t>Tavishi Sharma  ·  20233577</a:t>
            </a:r>
          </a:p>
        </p:txBody>
      </p:sp>
      <p:pic>
        <p:nvPicPr>
          <p:cNvPr id="12" name="Picture 11" descr="mnnit_logo_for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28800"/>
            <a:ext cx="2971800" cy="29614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0" y="5166360"/>
            <a:ext cx="3200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5E9491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750" b="1" i="0">
                <a:solidFill>
                  <a:srgbClr val="707775"/>
                </a:solidFill>
                <a:latin typeface="Aptos"/>
              </a:defRPr>
            </a:pPr>
            <a:r>
              <a:t>IMAGE PROCESSING &amp; COMPUTER VISION  /  MNNIT ALLAHABAD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5E9491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707775"/>
                </a:solidFill>
                <a:latin typeface="Aptos"/>
              </a:defRPr>
            </a:pPr>
            <a:r>
              <a:t>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566928"/>
            <a:ext cx="11036808" cy="0"/>
          </a:xfrm>
          <a:prstGeom prst="line">
            <a:avLst/>
          </a:prstGeom>
          <a:ln w="13970">
            <a:solidFill>
              <a:srgbClr val="E8E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749808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234353"/>
                </a:solidFill>
                <a:latin typeface="Aptos Display"/>
              </a:defRPr>
            </a:pPr>
            <a:r>
              <a:t>The road does not become safer after dark.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707775"/>
                </a:solidFill>
                <a:latin typeface="Aptos"/>
              </a:defRPr>
            </a:pPr>
            <a:r>
              <a:t>The same road defects become harder to notice when illumination and contrast are 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429000" cy="182880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4671" y="2039112"/>
            <a:ext cx="109728" cy="109728"/>
          </a:xfrm>
          <a:prstGeom prst="ellipse">
            <a:avLst/>
          </a:prstGeom>
          <a:solidFill>
            <a:srgbClr val="E08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84248"/>
            <a:ext cx="289864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34353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04872"/>
            <a:ext cx="3044952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Potholes can be difficult to spot in low-light road images, especially when visibility is limited.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874519"/>
            <a:ext cx="3429000" cy="182880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35424" y="2039112"/>
            <a:ext cx="109728" cy="109728"/>
          </a:xfrm>
          <a:prstGeom prst="ellipse">
            <a:avLst/>
          </a:prstGeom>
          <a:solidFill>
            <a:srgbClr val="5E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984248"/>
            <a:ext cx="289864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34353"/>
                </a:solidFill>
                <a:latin typeface="Aptos"/>
              </a:defRPr>
            </a:pPr>
            <a:r>
              <a:t>The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04872"/>
            <a:ext cx="3044952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Build an object-detection pipeline that identifies pothole regions and localises them with bounding boxes.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874519"/>
            <a:ext cx="3429000" cy="182880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66175" y="2039112"/>
            <a:ext cx="109728" cy="109728"/>
          </a:xfrm>
          <a:prstGeom prst="ellipse">
            <a:avLst/>
          </a:prstGeom>
          <a:solidFill>
            <a:srgbClr val="9BA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67344" y="1984248"/>
            <a:ext cx="289864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34353"/>
                </a:solidFill>
                <a:latin typeface="Aptos"/>
              </a:defRPr>
            </a:pPr>
            <a:r>
              <a:t>The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404872"/>
            <a:ext cx="3044952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How well does a detector trained on synthetically darkened images transfer to genuinely captured night scenes?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251960"/>
            <a:ext cx="12801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E08F53"/>
                </a:solidFill>
                <a:latin typeface="Aptos"/>
              </a:defRPr>
            </a:pPr>
            <a:r>
              <a:t>PROJECT 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590288"/>
            <a:ext cx="1060704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200" b="1" i="0">
                <a:solidFill>
                  <a:srgbClr val="234353"/>
                </a:solidFill>
                <a:latin typeface="Aptos Display"/>
              </a:defRPr>
            </a:pPr>
            <a:r>
              <a:t>Evaluate three YOLO-based experiments — YOLOv8n, YOLOv8s and YOLO11m — and examine the synthetic-to-real performance gap.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750" b="1" i="0">
                <a:solidFill>
                  <a:srgbClr val="707775"/>
                </a:solidFill>
                <a:latin typeface="Aptos"/>
              </a:defRPr>
            </a:pPr>
            <a:r>
              <a:t>IMAGE PROCESSING &amp; COMPUTER VISION  /  MNNIT ALLAHABAD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5E9491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707775"/>
                </a:solidFill>
                <a:latin typeface="Aptos"/>
              </a:defRPr>
            </a:pPr>
            <a:r>
              <a:t>03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566928"/>
            <a:ext cx="11036808" cy="0"/>
          </a:xfrm>
          <a:prstGeom prst="line">
            <a:avLst/>
          </a:prstGeom>
          <a:ln w="13970">
            <a:solidFill>
              <a:srgbClr val="E8E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749808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234353"/>
                </a:solidFill>
                <a:latin typeface="Aptos Display"/>
              </a:defRPr>
            </a:pPr>
            <a:r>
              <a:t>One project. Three detector experiments.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707775"/>
                </a:solidFill>
                <a:latin typeface="Aptos"/>
              </a:defRPr>
            </a:pPr>
            <a:r>
              <a:t>The experiments are complementary; they are not a perfectly controlled head-to-head benchmark.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3774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2600" b="1" i="0">
                <a:solidFill>
                  <a:srgbClr val="5E9491"/>
                </a:solidFill>
                <a:latin typeface="Aptos Display"/>
              </a:defRPr>
            </a:pPr>
            <a:r>
              <a:t>2,679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76856"/>
            <a:ext cx="23774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707775"/>
                </a:solidFill>
                <a:latin typeface="Aptos"/>
              </a:defRPr>
            </a:pPr>
            <a:r>
              <a:t>TOTAL SYNTHETIC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828800"/>
            <a:ext cx="23774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2600" b="1" i="0">
                <a:solidFill>
                  <a:srgbClr val="E08F53"/>
                </a:solidFill>
                <a:latin typeface="Aptos Display"/>
              </a:defRPr>
            </a:pPr>
            <a:r>
              <a:t>7,270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276856"/>
            <a:ext cx="23774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707775"/>
                </a:solidFill>
                <a:latin typeface="Aptos"/>
              </a:defRPr>
            </a:pPr>
            <a:r>
              <a:t>POTHOLE INSTANCES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28800"/>
            <a:ext cx="23774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2600" b="1" i="0">
                <a:solidFill>
                  <a:srgbClr val="5E9491"/>
                </a:solidFill>
                <a:latin typeface="Aptos Display"/>
              </a:defRPr>
            </a:pPr>
            <a:r>
              <a:t>1,330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276856"/>
            <a:ext cx="23774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707775"/>
                </a:solidFill>
                <a:latin typeface="Aptos"/>
              </a:defRPr>
            </a:pPr>
            <a:r>
              <a:t>REAL-NIGHT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828800"/>
            <a:ext cx="23774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2600" b="1" i="0">
                <a:solidFill>
                  <a:srgbClr val="E08F53"/>
                </a:solidFill>
                <a:latin typeface="Aptos Display"/>
              </a:defRPr>
            </a:pPr>
            <a:r>
              <a:t>3,055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276856"/>
            <a:ext cx="23774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707775"/>
                </a:solidFill>
                <a:latin typeface="Aptos"/>
              </a:defRPr>
            </a:pPr>
            <a:r>
              <a:t>REAL-NIGHT BOXES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834640"/>
            <a:ext cx="10515600" cy="22860"/>
          </a:xfrm>
          <a:prstGeom prst="rect">
            <a:avLst/>
          </a:prstGeom>
          <a:solidFill>
            <a:srgbClr val="E8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0120" y="3310128"/>
            <a:ext cx="384048" cy="384048"/>
          </a:xfrm>
          <a:prstGeom prst="ellipse">
            <a:avLst/>
          </a:prstGeom>
          <a:solidFill>
            <a:srgbClr val="5E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234353"/>
                </a:solidFill>
                <a:latin typeface="Aptos"/>
              </a:defRPr>
            </a:pPr>
            <a:r>
              <a:t>YOLOv8n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24528"/>
            <a:ext cx="2468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707775"/>
                </a:solidFill>
                <a:latin typeface="Aptos"/>
              </a:defRPr>
            </a:pPr>
            <a:r>
              <a:t>Nano · 640 × 640</a:t>
            </a:r>
          </a:p>
        </p:txBody>
      </p:sp>
      <p:sp>
        <p:nvSpPr>
          <p:cNvPr id="19" name="Oval 18"/>
          <p:cNvSpPr/>
          <p:nvPr/>
        </p:nvSpPr>
        <p:spPr>
          <a:xfrm>
            <a:off x="4251960" y="3310128"/>
            <a:ext cx="384048" cy="384048"/>
          </a:xfrm>
          <a:prstGeom prst="ellipse">
            <a:avLst/>
          </a:prstGeom>
          <a:solidFill>
            <a:srgbClr val="E08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23360" y="3840480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234353"/>
                </a:solidFill>
                <a:latin typeface="Aptos"/>
              </a:defRPr>
            </a:pPr>
            <a:r>
              <a:t>YOLOv8s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224528"/>
            <a:ext cx="2468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707775"/>
                </a:solidFill>
                <a:latin typeface="Aptos"/>
              </a:defRPr>
            </a:pPr>
            <a:r>
              <a:t>Small · 640 × 640</a:t>
            </a:r>
          </a:p>
        </p:txBody>
      </p:sp>
      <p:sp>
        <p:nvSpPr>
          <p:cNvPr id="22" name="Oval 21"/>
          <p:cNvSpPr/>
          <p:nvPr/>
        </p:nvSpPr>
        <p:spPr>
          <a:xfrm>
            <a:off x="7543800" y="3310128"/>
            <a:ext cx="384048" cy="384048"/>
          </a:xfrm>
          <a:prstGeom prst="ellipse">
            <a:avLst/>
          </a:prstGeom>
          <a:solidFill>
            <a:srgbClr val="9BA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0" y="3840480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234353"/>
                </a:solidFill>
                <a:latin typeface="Aptos"/>
              </a:defRPr>
            </a:pPr>
            <a:r>
              <a:t>YOLO11m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224528"/>
            <a:ext cx="2468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707775"/>
                </a:solidFill>
                <a:latin typeface="Aptos"/>
              </a:defRPr>
            </a:pPr>
            <a:r>
              <a:t>Medium · 800 × 800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74920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E08F53"/>
                </a:solidFill>
                <a:latin typeface="Aptos"/>
              </a:defRPr>
            </a:pPr>
            <a:r>
              <a:t>Two evaluation settings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5074920"/>
            <a:ext cx="7863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232B2F"/>
                </a:solidFill>
                <a:latin typeface="Aptos"/>
              </a:defRPr>
            </a:pPr>
            <a:r>
              <a:t>Synthetic-night validation/test splits  +  a separate real-night evaluation collection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750" b="1" i="0">
                <a:solidFill>
                  <a:srgbClr val="707775"/>
                </a:solidFill>
                <a:latin typeface="Aptos"/>
              </a:defRPr>
            </a:pPr>
            <a:r>
              <a:t>IMAGE PROCESSING &amp; COMPUTER VISION  /  MNNIT ALLAHABAD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5E9491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707775"/>
                </a:solidFill>
                <a:latin typeface="Aptos"/>
              </a:defRPr>
            </a:pPr>
            <a:r>
              <a:t>04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566928"/>
            <a:ext cx="11036808" cy="0"/>
          </a:xfrm>
          <a:prstGeom prst="line">
            <a:avLst/>
          </a:prstGeom>
          <a:ln w="13970">
            <a:solidFill>
              <a:srgbClr val="E8E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749808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234353"/>
                </a:solidFill>
                <a:latin typeface="Aptos Display"/>
              </a:defRPr>
            </a:pPr>
            <a:r>
              <a:t>Building a pothole-only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707775"/>
                </a:solidFill>
                <a:latin typeface="Aptos"/>
              </a:defRPr>
            </a:pPr>
            <a:r>
              <a:t>The original source had three labels. The final detection task retained potholes only.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2514600" cy="251460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029968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E08F53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42032"/>
            <a:ext cx="2148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234353"/>
                </a:solidFill>
                <a:latin typeface="Aptos"/>
              </a:defRPr>
            </a:pPr>
            <a:r>
              <a:t>Keep pothole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82112"/>
            <a:ext cx="214884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232B2F"/>
                </a:solidFill>
                <a:latin typeface="Aptos"/>
              </a:defRPr>
            </a:pPr>
            <a:r>
              <a:t>Retain every image containing at least one pothole, even if cracks are also present.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874519"/>
            <a:ext cx="2514600" cy="251460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85031" y="2029968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E08F53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1" y="2542032"/>
            <a:ext cx="2148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234353"/>
                </a:solidFill>
                <a:latin typeface="Aptos"/>
              </a:defRPr>
            </a:pPr>
            <a:r>
              <a:t>Remove crack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1" y="3182112"/>
            <a:ext cx="214884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232B2F"/>
                </a:solidFill>
                <a:latin typeface="Aptos"/>
              </a:defRPr>
            </a:pPr>
            <a:r>
              <a:t>Delete crack-only images and remove crack annotations from retained images.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1874519"/>
            <a:ext cx="2514600" cy="251460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47103" y="2029968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E08F53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3" y="2542032"/>
            <a:ext cx="2148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234353"/>
                </a:solidFill>
                <a:latin typeface="Aptos"/>
              </a:defRPr>
            </a:pPr>
            <a:r>
              <a:t>Remap the 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3" y="3182112"/>
            <a:ext cx="214884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232B2F"/>
                </a:solidFill>
                <a:latin typeface="Aptos"/>
              </a:defRPr>
            </a:pPr>
            <a:r>
              <a:t>Convert pothole class ID 2 → 0; configure a single class: pothole.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44584" y="1874519"/>
            <a:ext cx="2514600" cy="251460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09176" y="2029968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E08F53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2542032"/>
            <a:ext cx="2148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234353"/>
                </a:solidFill>
                <a:latin typeface="Aptos"/>
              </a:defRPr>
            </a:pPr>
            <a:r>
              <a:t>Create night-like appearance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9176" y="3182112"/>
            <a:ext cx="214884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232B2F"/>
                </a:solidFill>
                <a:latin typeface="Aptos"/>
              </a:defRPr>
            </a:pPr>
            <a:r>
              <a:t>Adjust brightness, contrast and colour. No geometric transform was applied in this darkening step.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892040"/>
            <a:ext cx="1554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5E9491"/>
                </a:solidFill>
                <a:latin typeface="Aptos"/>
              </a:defRPr>
            </a:pPr>
            <a:r>
              <a:t>DATASET SPLIT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13232" y="5230368"/>
          <a:ext cx="65836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34353"/>
                          </a:solidFill>
                          <a:latin typeface="Aptos"/>
                        </a:defRPr>
                      </a:pPr>
                      <a:r>
                        <a:t>Split</a:t>
                      </a:r>
                    </a:p>
                  </a:txBody>
                  <a:tcPr marL="73152" marR="54864" marT="36576" marB="27432" anchor="ctr">
                    <a:solidFill>
                      <a:srgbClr val="DC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34353"/>
                          </a:solidFill>
                          <a:latin typeface="Aptos"/>
                        </a:defRPr>
                      </a:pPr>
                      <a:r>
                        <a:t>Images</a:t>
                      </a:r>
                    </a:p>
                  </a:txBody>
                  <a:tcPr marL="73152" marR="54864" marT="36576" marB="27432" anchor="ctr">
                    <a:solidFill>
                      <a:srgbClr val="DC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34353"/>
                          </a:solidFill>
                          <a:latin typeface="Aptos"/>
                        </a:defRPr>
                      </a:pPr>
                      <a:r>
                        <a:t>Pothole instances</a:t>
                      </a:r>
                    </a:p>
                  </a:txBody>
                  <a:tcPr marL="73152" marR="54864" marT="36576" marB="27432" anchor="ctr">
                    <a:solidFill>
                      <a:srgbClr val="DCE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Train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1,876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5,149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Validation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533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1,444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Test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270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677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7635240" y="5303520"/>
            <a:ext cx="3749039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707775"/>
                </a:solidFill>
                <a:latin typeface="Aptos"/>
              </a:defRPr>
            </a:pPr>
            <a:r>
              <a:t>Integrity checks reported no corrupt images, orphan labels, empty label files or out-of-bounds coordinates.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750" b="1" i="0">
                <a:solidFill>
                  <a:srgbClr val="707775"/>
                </a:solidFill>
                <a:latin typeface="Aptos"/>
              </a:defRPr>
            </a:pPr>
            <a:r>
              <a:t>IMAGE PROCESSING &amp; COMPUTER VISION  /  MNNIT ALLAHABAD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5E9491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707775"/>
                </a:solidFill>
                <a:latin typeface="Aptos"/>
              </a:defRPr>
            </a:pPr>
            <a:r>
              <a:t>05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566928"/>
            <a:ext cx="11036808" cy="0"/>
          </a:xfrm>
          <a:prstGeom prst="line">
            <a:avLst/>
          </a:prstGeom>
          <a:ln w="13970">
            <a:solidFill>
              <a:srgbClr val="E8E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749808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234353"/>
                </a:solidFill>
                <a:latin typeface="Aptos Display"/>
              </a:defRPr>
            </a:pPr>
            <a:r>
              <a:t>From images to detections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707775"/>
                </a:solidFill>
                <a:latin typeface="Aptos"/>
              </a:defRPr>
            </a:pPr>
            <a:r>
              <a:t>A shared synthetic-night training source, followed by model-specific evaluation.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77440"/>
            <a:ext cx="1965960" cy="1234440"/>
          </a:xfrm>
          <a:prstGeom prst="roundRect">
            <a:avLst/>
          </a:prstGeom>
          <a:solidFill>
            <a:srgbClr val="F6E5D2"/>
          </a:solidFill>
          <a:ln w="12700">
            <a:solidFill>
              <a:srgbClr val="E8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2578608"/>
            <a:ext cx="1737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E08F53"/>
                </a:solidFill>
                <a:latin typeface="Aptos"/>
              </a:defRPr>
            </a:pPr>
            <a:r>
              <a:t>SOURCE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944368"/>
            <a:ext cx="17373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234353"/>
                </a:solidFill>
                <a:latin typeface="Aptos"/>
              </a:defRPr>
            </a:pPr>
            <a:r>
              <a:t>3-class pothole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2" y="2770632"/>
            <a:ext cx="320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70777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2072" y="2377440"/>
            <a:ext cx="1965960" cy="123444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E8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71800" y="2578608"/>
            <a:ext cx="1737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5E9491"/>
                </a:solidFill>
                <a:latin typeface="Aptos"/>
              </a:defRPr>
            </a:pPr>
            <a:r>
              <a:t>FILTER + REMAP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944368"/>
            <a:ext cx="17373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234353"/>
                </a:solidFill>
                <a:latin typeface="Aptos"/>
              </a:defRPr>
            </a:pPr>
            <a:r>
              <a:t>Pothole-only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5464" y="2770632"/>
            <a:ext cx="320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70777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21224" y="2377440"/>
            <a:ext cx="1965960" cy="1234440"/>
          </a:xfrm>
          <a:prstGeom prst="roundRect">
            <a:avLst/>
          </a:prstGeom>
          <a:solidFill>
            <a:srgbClr val="F6E5D2"/>
          </a:solidFill>
          <a:ln w="12700">
            <a:solidFill>
              <a:srgbClr val="E8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30952" y="2578608"/>
            <a:ext cx="1737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E08F53"/>
                </a:solidFill>
                <a:latin typeface="Aptos"/>
              </a:defRPr>
            </a:pPr>
            <a:r>
              <a:t>DARKEN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2944368"/>
            <a:ext cx="17373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234353"/>
                </a:solidFill>
                <a:latin typeface="Aptos"/>
              </a:defRPr>
            </a:pPr>
            <a:r>
              <a:t>Brightness · contrast · colour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14616" y="2770632"/>
            <a:ext cx="320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70777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0376" y="2377440"/>
            <a:ext cx="1965960" cy="123444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E8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90104" y="2578608"/>
            <a:ext cx="1737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5E9491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0104" y="2944368"/>
            <a:ext cx="17373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234353"/>
                </a:solidFill>
                <a:latin typeface="Aptos"/>
              </a:defRPr>
            </a:pPr>
            <a:r>
              <a:t>YOLOv8n / v8s / 11m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3768" y="2770632"/>
            <a:ext cx="320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70777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39528" y="2377440"/>
            <a:ext cx="1965960" cy="1234440"/>
          </a:xfrm>
          <a:prstGeom prst="roundRect">
            <a:avLst/>
          </a:prstGeom>
          <a:solidFill>
            <a:srgbClr val="F6E5D2"/>
          </a:solidFill>
          <a:ln w="12700">
            <a:solidFill>
              <a:srgbClr val="E8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49256" y="2578608"/>
            <a:ext cx="1737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E08F53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9256" y="2944368"/>
            <a:ext cx="17373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234353"/>
                </a:solidFill>
                <a:latin typeface="Aptos"/>
              </a:defRPr>
            </a:pPr>
            <a:r>
              <a:t>Synthetic + real-night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251960"/>
            <a:ext cx="5074920" cy="123444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5E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15568" y="4361688"/>
            <a:ext cx="454456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34353"/>
                </a:solidFill>
                <a:latin typeface="Aptos"/>
              </a:defRPr>
            </a:pPr>
            <a:r>
              <a:t>YOLOv8 experiments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4782312"/>
            <a:ext cx="4690872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640 × 640 inputs · Ultralytics validation · synthetic train/validation/test.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251960"/>
            <a:ext cx="5074920" cy="123444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28231" y="4416552"/>
            <a:ext cx="109728" cy="109728"/>
          </a:xfrm>
          <a:prstGeom prst="ellipse">
            <a:avLst/>
          </a:prstGeom>
          <a:solidFill>
            <a:srgbClr val="E08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29400" y="4361688"/>
            <a:ext cx="454456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34353"/>
                </a:solidFill>
                <a:latin typeface="Aptos"/>
              </a:defRPr>
            </a:pPr>
            <a:r>
              <a:t>YOLO11m experiment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7" y="4782312"/>
            <a:ext cx="4690872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800 × 800 inputs · synthetic fine-tuning · custom evaluation on real-night images.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806440"/>
            <a:ext cx="10698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B05345"/>
                </a:solidFill>
                <a:latin typeface="Aptos"/>
              </a:defRPr>
            </a:pPr>
            <a:r>
              <a:t>Important: model sizes, software versions and evaluation paths differ; interpret cross-model comparisons cautiously.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750" b="1" i="0">
                <a:solidFill>
                  <a:srgbClr val="707775"/>
                </a:solidFill>
                <a:latin typeface="Aptos"/>
              </a:defRPr>
            </a:pPr>
            <a:r>
              <a:t>IMAGE PROCESSING &amp; COMPUTER VISION  /  MNNIT ALLAHABAD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5E9491"/>
                </a:solidFill>
                <a:latin typeface="Aptos"/>
              </a:defRPr>
            </a:pPr>
            <a:r>
              <a:t>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707775"/>
                </a:solidFill>
                <a:latin typeface="Aptos"/>
              </a:defRPr>
            </a:pPr>
            <a:r>
              <a:t>06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566928"/>
            <a:ext cx="11036808" cy="0"/>
          </a:xfrm>
          <a:prstGeom prst="line">
            <a:avLst/>
          </a:prstGeom>
          <a:ln w="13970">
            <a:solidFill>
              <a:srgbClr val="E8E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749808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234353"/>
                </a:solidFill>
                <a:latin typeface="Aptos Display"/>
              </a:defRPr>
            </a:pPr>
            <a:r>
              <a:t>The YOLOv8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707775"/>
                </a:solidFill>
                <a:latin typeface="Aptos"/>
              </a:defRPr>
            </a:pPr>
            <a:r>
              <a:t>A lightweight baseline and a larger model were trained on the same synthetic-night split.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5166360" cy="182880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993392"/>
            <a:ext cx="109728" cy="109728"/>
          </a:xfrm>
          <a:prstGeom prst="ellipse">
            <a:avLst/>
          </a:prstGeom>
          <a:solidFill>
            <a:srgbClr val="5E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938528"/>
            <a:ext cx="463600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34353"/>
                </a:solidFill>
                <a:latin typeface="Aptos"/>
              </a:defRPr>
            </a:pPr>
            <a:r>
              <a:t>YOLOv8n · Nano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59152"/>
            <a:ext cx="4782312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3.13M parameters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8.6 GFLOPs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640 × 640 input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Validation: 533 images  |  Test: 270 images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828800"/>
            <a:ext cx="5166360" cy="182880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55664" y="1993392"/>
            <a:ext cx="109728" cy="109728"/>
          </a:xfrm>
          <a:prstGeom prst="ellipse">
            <a:avLst/>
          </a:prstGeom>
          <a:solidFill>
            <a:srgbClr val="E08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56832" y="1938528"/>
            <a:ext cx="463600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34353"/>
                </a:solidFill>
                <a:latin typeface="Aptos"/>
              </a:defRPr>
            </a:pPr>
            <a:r>
              <a:t>YOLOv8s · Small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59152"/>
            <a:ext cx="4782312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11.13M parameters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28.4 GFLOPs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640 × 640 input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100-epoch maximum; early stopped at epoch 86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Best checkpoint: epoch 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105156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234353"/>
                </a:solidFill>
                <a:latin typeface="Aptos Display"/>
              </a:defRPr>
            </a:pPr>
            <a:r>
              <a:t>The Small model required more computation; the Nano model offered a much lighter deployment footprint.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74920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707775"/>
                </a:solidFill>
                <a:latin typeface="Aptos"/>
              </a:defRPr>
            </a:pPr>
            <a:r>
              <a:t>Training environment: Ultralytics 8.4.183 · Python 3.13.15 · PyTorch 2.11.0+cu130 · NVIDIA Tesla T4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750" b="1" i="0">
                <a:solidFill>
                  <a:srgbClr val="707775"/>
                </a:solidFill>
                <a:latin typeface="Aptos"/>
              </a:defRPr>
            </a:pPr>
            <a:r>
              <a:t>IMAGE PROCESSING &amp; COMPUTER VISION  /  MNNIT ALLAHABAD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5E9491"/>
                </a:solidFill>
                <a:latin typeface="Aptos"/>
              </a:defRPr>
            </a:pPr>
            <a:r>
              <a:t>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707775"/>
                </a:solidFill>
                <a:latin typeface="Aptos"/>
              </a:defRPr>
            </a:pPr>
            <a:r>
              <a:t>07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566928"/>
            <a:ext cx="11036808" cy="0"/>
          </a:xfrm>
          <a:prstGeom prst="line">
            <a:avLst/>
          </a:prstGeom>
          <a:ln w="13970">
            <a:solidFill>
              <a:srgbClr val="E8E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749808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234353"/>
                </a:solidFill>
                <a:latin typeface="Aptos Display"/>
              </a:defRPr>
            </a:pPr>
            <a:r>
              <a:t>A second pipeline: YOLO11m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707775"/>
                </a:solidFill>
                <a:latin typeface="Aptos"/>
              </a:defRPr>
            </a:pPr>
            <a:r>
              <a:t>The teammate pipeline added a separate real-night evaluation collection.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3429000" cy="1874519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109728" cy="109728"/>
          </a:xfrm>
          <a:prstGeom prst="ellipse">
            <a:avLst/>
          </a:prstGeom>
          <a:solidFill>
            <a:srgbClr val="5E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892807"/>
            <a:ext cx="289864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34353"/>
                </a:solidFill>
                <a:latin typeface="Aptos"/>
              </a:defRPr>
            </a:pPr>
            <a:r>
              <a:t>Training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13432"/>
            <a:ext cx="3044952" cy="12344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COCO-pretrained yolo11m.pt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One-class pothole head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800 × 800 · batch 8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100 epochs · seed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783080"/>
            <a:ext cx="3429000" cy="1874519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35424" y="1947672"/>
            <a:ext cx="109728" cy="109728"/>
          </a:xfrm>
          <a:prstGeom prst="ellipse">
            <a:avLst/>
          </a:prstGeom>
          <a:solidFill>
            <a:srgbClr val="E08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892807"/>
            <a:ext cx="289864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34353"/>
                </a:solidFill>
                <a:latin typeface="Aptos"/>
              </a:defRPr>
            </a:pPr>
            <a:r>
              <a:t>Augmentation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13432"/>
            <a:ext cx="3044952" cy="12344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Mosaic 1.0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MixUp 0.1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Scale 0.5 · translate 0.1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Horizontal flip 0.5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HSV augmentation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783080"/>
            <a:ext cx="3429000" cy="1874519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193023" y="1947672"/>
            <a:ext cx="109728" cy="109728"/>
          </a:xfrm>
          <a:prstGeom prst="ellipse">
            <a:avLst/>
          </a:prstGeom>
          <a:solidFill>
            <a:srgbClr val="9BA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94192" y="1892807"/>
            <a:ext cx="289864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34353"/>
                </a:solidFill>
                <a:latin typeface="Aptos"/>
              </a:defRPr>
            </a:pPr>
            <a:r>
              <a:t>Real-night 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13432"/>
            <a:ext cx="3044952" cy="12344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1,445 original images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1,330 retained images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3,055 pothole boxes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115 images without target boxes skipped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51960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B05345"/>
                </a:solidFill>
                <a:latin typeface="Aptos"/>
              </a:defRPr>
            </a:pPr>
            <a:r>
              <a:t>Evaluation caution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1060704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234353"/>
                </a:solidFill>
                <a:latin typeface="Aptos Display"/>
              </a:defRPr>
            </a:pPr>
            <a:r>
              <a:t>The real-night data came from one train folder. The filtered 1,330-image collection was used as an evaluation set, not as an independently split test set.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750" b="1" i="0">
                <a:solidFill>
                  <a:srgbClr val="707775"/>
                </a:solidFill>
                <a:latin typeface="Aptos"/>
              </a:defRPr>
            </a:pPr>
            <a:r>
              <a:t>IMAGE PROCESSING &amp; COMPUTER VISION  /  MNNIT ALLAHABAD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5E9491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707775"/>
                </a:solidFill>
                <a:latin typeface="Aptos"/>
              </a:defRPr>
            </a:pPr>
            <a:r>
              <a:t>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566928"/>
            <a:ext cx="11036808" cy="0"/>
          </a:xfrm>
          <a:prstGeom prst="line">
            <a:avLst/>
          </a:prstGeom>
          <a:ln w="13970">
            <a:solidFill>
              <a:srgbClr val="E8E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749808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234353"/>
                </a:solidFill>
                <a:latin typeface="Aptos Display"/>
              </a:defRPr>
            </a:pPr>
            <a:r>
              <a:t>Synthetic test results: YOLOv8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707775"/>
                </a:solidFill>
                <a:latin typeface="Aptos"/>
              </a:defRPr>
            </a:pPr>
            <a:r>
              <a:t>YOLOv8s led the Nano model on all four test metrics, although the differences were modest.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28800"/>
          <a:ext cx="54864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34353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73152" marR="54864" marT="36576" marB="27432" anchor="ctr">
                    <a:solidFill>
                      <a:srgbClr val="DC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34353"/>
                          </a:solidFill>
                          <a:latin typeface="Aptos"/>
                        </a:defRPr>
                      </a:pPr>
                      <a:r>
                        <a:t>YOLOv8n</a:t>
                      </a:r>
                    </a:p>
                  </a:txBody>
                  <a:tcPr marL="73152" marR="54864" marT="36576" marB="27432" anchor="ctr">
                    <a:solidFill>
                      <a:srgbClr val="DC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34353"/>
                          </a:solidFill>
                          <a:latin typeface="Aptos"/>
                        </a:defRPr>
                      </a:pPr>
                      <a:r>
                        <a:t>YOLOv8s</a:t>
                      </a:r>
                    </a:p>
                  </a:txBody>
                  <a:tcPr marL="73152" marR="54864" marT="36576" marB="27432" anchor="ctr">
                    <a:solidFill>
                      <a:srgbClr val="DCE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67.25%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68.50%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53.62%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54.80%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mAP@0.5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58.59%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59.98%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mAP@0.5:0.95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28.99%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30.43%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12280" y="1965960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2600" b="1" i="0">
                <a:solidFill>
                  <a:srgbClr val="E08F53"/>
                </a:solidFill>
                <a:latin typeface="Aptos Display"/>
              </a:defRPr>
            </a:pPr>
            <a:r>
              <a:t>59.98%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414015"/>
            <a:ext cx="1920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707775"/>
                </a:solidFill>
                <a:latin typeface="Aptos"/>
              </a:defRPr>
            </a:pPr>
            <a:r>
              <a:t>YOLOv8s TEST mAP@0.5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1965960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2600" b="1" i="0">
                <a:solidFill>
                  <a:srgbClr val="5E9491"/>
                </a:solidFill>
                <a:latin typeface="Aptos Display"/>
              </a:defRPr>
            </a:pPr>
            <a:r>
              <a:t>58.59%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2414015"/>
            <a:ext cx="1920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707775"/>
                </a:solidFill>
                <a:latin typeface="Aptos"/>
              </a:defRPr>
            </a:pPr>
            <a:r>
              <a:t>YOLOv8n TEST mAP@0.5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703320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5E949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4069080"/>
            <a:ext cx="429768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234353"/>
                </a:solidFill>
                <a:latin typeface="Aptos"/>
              </a:defRPr>
            </a:pPr>
            <a:r>
              <a:t>Nano slightly led validation; Small led the held-out test split. One run per model is not enough to establish statistical superiority.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1">
                <a:solidFill>
                  <a:srgbClr val="707775"/>
                </a:solidFill>
                <a:latin typeface="Aptos"/>
              </a:defRPr>
            </a:pPr>
            <a:r>
              <a:t>mAP values are reported from the original YOLOv8 validation pipeline.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750" b="1" i="0">
                <a:solidFill>
                  <a:srgbClr val="707775"/>
                </a:solidFill>
                <a:latin typeface="Aptos"/>
              </a:defRPr>
            </a:pPr>
            <a:r>
              <a:t>IMAGE PROCESSING &amp; COMPUTER VISION  /  MNNIT ALLAHABAD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5E9491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707775"/>
                </a:solidFill>
                <a:latin typeface="Aptos"/>
              </a:defRPr>
            </a:pPr>
            <a:r>
              <a:t>09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566928"/>
            <a:ext cx="11036808" cy="0"/>
          </a:xfrm>
          <a:prstGeom prst="line">
            <a:avLst/>
          </a:prstGeom>
          <a:ln w="13970">
            <a:solidFill>
              <a:srgbClr val="E8E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749808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234353"/>
                </a:solidFill>
                <a:latin typeface="Aptos Display"/>
              </a:defRPr>
            </a:pPr>
            <a:r>
              <a:t>YOLO11m: learning the synthetic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707775"/>
                </a:solidFill>
                <a:latin typeface="Aptos"/>
              </a:defRPr>
            </a:pPr>
            <a:r>
              <a:t>Ultralytics validation results on the synthetic-night splits.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783080"/>
          <a:ext cx="5715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34353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73152" marR="54864" marT="36576" marB="27432" anchor="ctr">
                    <a:solidFill>
                      <a:srgbClr val="DC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34353"/>
                          </a:solidFill>
                          <a:latin typeface="Aptos"/>
                        </a:defRPr>
                      </a:pPr>
                      <a:r>
                        <a:t>Validation</a:t>
                      </a:r>
                    </a:p>
                  </a:txBody>
                  <a:tcPr marL="73152" marR="54864" marT="36576" marB="27432" anchor="ctr">
                    <a:solidFill>
                      <a:srgbClr val="DC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34353"/>
                          </a:solidFill>
                          <a:latin typeface="Aptos"/>
                        </a:defRPr>
                      </a:pPr>
                      <a:r>
                        <a:t>Test</a:t>
                      </a:r>
                    </a:p>
                  </a:txBody>
                  <a:tcPr marL="73152" marR="54864" marT="36576" marB="27432" anchor="ctr">
                    <a:solidFill>
                      <a:srgbClr val="DCE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64.56%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71.44%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55.12%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51.85%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F1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59.47%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60.09%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mAP@0.5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59.14%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60.72%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mAP@0.5:0.95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30.76%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31.05%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903720" y="1828800"/>
            <a:ext cx="4251960" cy="141732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068312" y="1993392"/>
            <a:ext cx="109728" cy="109728"/>
          </a:xfrm>
          <a:prstGeom prst="ellipse">
            <a:avLst/>
          </a:prstGeom>
          <a:solidFill>
            <a:srgbClr val="E08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69480" y="1938528"/>
            <a:ext cx="372160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34353"/>
                </a:solidFill>
                <a:latin typeface="Aptos"/>
              </a:defRPr>
            </a:pPr>
            <a:r>
              <a:t>Custom evaluator at confidence 0.30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4888" y="2359152"/>
            <a:ext cx="3867912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Synthetic test: 66.79% precision · 52.88% recall · 59.03% F1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mAP@0.5: 58.88%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3611880"/>
            <a:ext cx="4251960" cy="141732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068312" y="3776472"/>
            <a:ext cx="109728" cy="109728"/>
          </a:xfrm>
          <a:prstGeom prst="ellipse">
            <a:avLst/>
          </a:prstGeom>
          <a:solidFill>
            <a:srgbClr val="5E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69480" y="3721608"/>
            <a:ext cx="372160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34353"/>
                </a:solidFill>
                <a:latin typeface="Aptos"/>
              </a:defRPr>
            </a:pPr>
            <a:r>
              <a:t>Do not mix evaluation paths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8" y="4142232"/>
            <a:ext cx="3867912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Ultralytics val() and the custom evaluator use different procedures and produce different absolute mAP values.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06440"/>
            <a:ext cx="9144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34353"/>
                </a:solidFill>
                <a:latin typeface="Aptos"/>
              </a:defRPr>
            </a:pPr>
            <a:r>
              <a:t>YOLO11m synthetic-test mAP@0.5 (Ultralytics): 60.72%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750" b="1" i="0">
                <a:solidFill>
                  <a:srgbClr val="707775"/>
                </a:solidFill>
                <a:latin typeface="Aptos"/>
              </a:defRPr>
            </a:pPr>
            <a:r>
              <a:t>IMAGE PROCESSING &amp; COMPUTER VISION  /  MNNIT ALLAHABAD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5E9491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707775"/>
                </a:solidFill>
                <a:latin typeface="Aptos"/>
              </a:defRPr>
            </a:pPr>
            <a:r>
              <a:t>10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566928"/>
            <a:ext cx="11036808" cy="0"/>
          </a:xfrm>
          <a:prstGeom prst="line">
            <a:avLst/>
          </a:prstGeom>
          <a:ln w="13970">
            <a:solidFill>
              <a:srgbClr val="E8E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749808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234353"/>
                </a:solidFill>
                <a:latin typeface="Aptos Display"/>
              </a:defRPr>
            </a:pPr>
            <a:r>
              <a:t>The real-night gap is the key 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707775"/>
                </a:solidFill>
                <a:latin typeface="Aptos"/>
              </a:defRPr>
            </a:pPr>
            <a:r>
              <a:t>Fine-tuning helps substantially, but performance falls on genuinely captured night imagery.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783080"/>
          <a:ext cx="59436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34353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73152" marR="54864" marT="36576" marB="27432" anchor="ctr">
                    <a:solidFill>
                      <a:srgbClr val="DC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34353"/>
                          </a:solidFill>
                          <a:latin typeface="Aptos"/>
                        </a:defRPr>
                      </a:pPr>
                      <a:r>
                        <a:t>COCO-pretrained</a:t>
                      </a:r>
                    </a:p>
                  </a:txBody>
                  <a:tcPr marL="73152" marR="54864" marT="36576" marB="27432" anchor="ctr">
                    <a:solidFill>
                      <a:srgbClr val="DC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34353"/>
                          </a:solidFill>
                          <a:latin typeface="Aptos"/>
                        </a:defRPr>
                      </a:pPr>
                      <a:r>
                        <a:t>Fine-tuned</a:t>
                      </a:r>
                    </a:p>
                  </a:txBody>
                  <a:tcPr marL="73152" marR="54864" marT="36576" marB="27432" anchor="ctr">
                    <a:solidFill>
                      <a:srgbClr val="DCE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mAP@0.5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1.29%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16.79%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mAP@0.5:0.95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0.41%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6.50%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Precision @ 0.30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5.32%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29.62%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Recall @ 0.30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1.34%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20.46%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F1 @ 0.30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2.14%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24.20%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0" y="1965960"/>
            <a:ext cx="18288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2600" b="1" i="0">
                <a:solidFill>
                  <a:srgbClr val="E08F53"/>
                </a:solidFill>
                <a:latin typeface="Aptos Display"/>
              </a:defRPr>
            </a:pPr>
            <a:r>
              <a:t>24.20%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414015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707775"/>
                </a:solidFill>
                <a:latin typeface="Aptos"/>
              </a:defRPr>
            </a:pPr>
            <a:r>
              <a:t>FINE-TUNED REAL-NIGHT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1965960"/>
            <a:ext cx="18288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2600" b="1" i="0">
                <a:solidFill>
                  <a:srgbClr val="5E9491"/>
                </a:solidFill>
                <a:latin typeface="Aptos Display"/>
              </a:defRPr>
            </a:pPr>
            <a:r>
              <a:t>16.79%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2414015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707775"/>
                </a:solidFill>
                <a:latin typeface="Aptos"/>
              </a:defRPr>
            </a:pPr>
            <a:r>
              <a:t>REAL-NIGHT mAP@0.5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3703320"/>
            <a:ext cx="429768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234353"/>
                </a:solidFill>
                <a:latin typeface="Aptos"/>
              </a:defRPr>
            </a:pPr>
            <a:r>
              <a:t>The fine-tuned model improves every listed metric over the original COCO baseline. Yet many potholes remain missed, and false positives remain high.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06440"/>
            <a:ext cx="10058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1">
                <a:solidFill>
                  <a:srgbClr val="707775"/>
                </a:solidFill>
                <a:latin typeface="Aptos"/>
              </a:defRPr>
            </a:pPr>
            <a:r>
              <a:t>Both models evaluated on the same 1,330 filtered real-night images; reference confidence threshold = 0.30.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750" b="1" i="0">
                <a:solidFill>
                  <a:srgbClr val="707775"/>
                </a:solidFill>
                <a:latin typeface="Aptos"/>
              </a:defRPr>
            </a:pPr>
            <a:r>
              <a:t>IMAGE PROCESSING &amp; COMPUTER VISION  /  MNNIT ALLAHABAD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5E9491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707775"/>
                </a:solidFill>
                <a:latin typeface="Aptos"/>
              </a:defRPr>
            </a:pPr>
            <a:r>
              <a:t>11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566928"/>
            <a:ext cx="11036808" cy="0"/>
          </a:xfrm>
          <a:prstGeom prst="line">
            <a:avLst/>
          </a:prstGeom>
          <a:ln w="13970">
            <a:solidFill>
              <a:srgbClr val="E8E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749808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234353"/>
                </a:solidFill>
                <a:latin typeface="Aptos Display"/>
              </a:defRPr>
            </a:pPr>
            <a:r>
              <a:t>Not all potholes are equally easy to detect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707775"/>
                </a:solidFill>
                <a:latin typeface="Aptos"/>
              </a:defRPr>
            </a:pPr>
            <a:r>
              <a:t>Recall on real-night images improves with object size, but remains limited.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64008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751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34353"/>
                          </a:solidFill>
                          <a:latin typeface="Aptos"/>
                        </a:defRPr>
                      </a:pPr>
                      <a:r>
                        <a:t>Object size</a:t>
                      </a:r>
                    </a:p>
                  </a:txBody>
                  <a:tcPr marL="73152" marR="54864" marT="36576" marB="27432" anchor="ctr">
                    <a:solidFill>
                      <a:srgbClr val="DC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34353"/>
                          </a:solidFill>
                          <a:latin typeface="Aptos"/>
                        </a:defRPr>
                      </a:pPr>
                      <a:r>
                        <a:t>Boxes</a:t>
                      </a:r>
                    </a:p>
                  </a:txBody>
                  <a:tcPr marL="73152" marR="54864" marT="36576" marB="27432" anchor="ctr">
                    <a:solidFill>
                      <a:srgbClr val="DC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34353"/>
                          </a:solidFill>
                          <a:latin typeface="Aptos"/>
                        </a:defRPr>
                      </a:pPr>
                      <a:r>
                        <a:t>COCO baseline</a:t>
                      </a:r>
                    </a:p>
                  </a:txBody>
                  <a:tcPr marL="73152" marR="54864" marT="36576" marB="27432" anchor="ctr">
                    <a:solidFill>
                      <a:srgbClr val="DC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34353"/>
                          </a:solidFill>
                          <a:latin typeface="Aptos"/>
                        </a:defRPr>
                      </a:pPr>
                      <a:r>
                        <a:t>Fine-tuned</a:t>
                      </a:r>
                    </a:p>
                  </a:txBody>
                  <a:tcPr marL="73152" marR="54864" marT="36576" marB="27432" anchor="ctr">
                    <a:solidFill>
                      <a:srgbClr val="DCE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Small (&lt;1%)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510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0.00%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14.12%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Medium (1–10%)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1,763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0.96%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18.15%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Large (≥10%)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782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3.07%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29.80%</a:t>
                      </a:r>
                    </a:p>
                  </a:txBody>
                  <a:tcPr marL="73152" marR="54864" marT="36576" marB="27432" anchor="ctr">
                    <a:solidFill>
                      <a:srgbClr val="FFF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All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3,055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1.34%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B2F"/>
                          </a:solidFill>
                          <a:latin typeface="Aptos"/>
                        </a:defRPr>
                      </a:pPr>
                      <a:r>
                        <a:t>20.46%</a:t>
                      </a:r>
                    </a:p>
                  </a:txBody>
                  <a:tcPr marL="73152" marR="54864" marT="36576" marB="27432" anchor="ctr">
                    <a:solidFill>
                      <a:srgbClr val="F4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52360" y="1874519"/>
            <a:ext cx="3886200" cy="132588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616952" y="2039112"/>
            <a:ext cx="109728" cy="109728"/>
          </a:xfrm>
          <a:prstGeom prst="ellipse">
            <a:avLst/>
          </a:prstGeom>
          <a:solidFill>
            <a:srgbClr val="E08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0" y="1984248"/>
            <a:ext cx="335584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34353"/>
                </a:solidFill>
                <a:latin typeface="Aptos"/>
              </a:defRPr>
            </a:pPr>
            <a:r>
              <a:t>Synthetic vs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3528" y="2404872"/>
            <a:ext cx="3502152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Synthetic test mAP@0.5: 58.88% (custom evaluator)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Real-night mAP@0.5: 16.79%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3611880"/>
            <a:ext cx="3886200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234353"/>
                </a:solidFill>
                <a:latin typeface="Aptos"/>
              </a:defRPr>
            </a:pPr>
            <a:r>
              <a:t>A sizeable domain gap remains. Differences in lighting, scene appearance, object scale and annotation style may contribute; this experiment does not isolate their individual effects.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750" b="1" i="0">
                <a:solidFill>
                  <a:srgbClr val="707775"/>
                </a:solidFill>
                <a:latin typeface="Aptos"/>
              </a:defRPr>
            </a:pPr>
            <a:r>
              <a:t>IMAGE PROCESSING &amp; COMPUTER VISION  /  MNNIT ALLAHABAD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5E9491"/>
                </a:solidFill>
                <a:latin typeface="Aptos"/>
              </a:defRPr>
            </a:pPr>
            <a:r>
              <a:t>VISUAL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707775"/>
                </a:solidFill>
                <a:latin typeface="Aptos"/>
              </a:defRPr>
            </a:pPr>
            <a:r>
              <a:t>12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566928"/>
            <a:ext cx="11036808" cy="0"/>
          </a:xfrm>
          <a:prstGeom prst="line">
            <a:avLst/>
          </a:prstGeom>
          <a:ln w="13970">
            <a:solidFill>
              <a:srgbClr val="E8E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749808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234353"/>
                </a:solidFill>
                <a:latin typeface="Aptos Display"/>
              </a:defRPr>
            </a:pPr>
            <a:r>
              <a:t>What the model sees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707775"/>
                </a:solidFill>
                <a:latin typeface="Aptos"/>
              </a:defRPr>
            </a:pPr>
            <a:r>
              <a:t>Use real inference screenshots here — ideally with the same scene shown before and after detection.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3520440" cy="3246120"/>
          </a:xfrm>
          <a:prstGeom prst="roundRect">
            <a:avLst/>
          </a:prstGeom>
          <a:solidFill>
            <a:srgbClr val="F2F0E7"/>
          </a:solidFill>
          <a:ln w="17780">
            <a:solidFill>
              <a:srgbClr val="5E94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89988" y="2103120"/>
            <a:ext cx="457200" cy="310896"/>
          </a:xfrm>
          <a:prstGeom prst="rect">
            <a:avLst/>
          </a:prstGeom>
          <a:noFill/>
          <a:ln w="15240">
            <a:solidFill>
              <a:srgbClr val="5E9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281428" y="2167128"/>
            <a:ext cx="82296" cy="82296"/>
          </a:xfrm>
          <a:prstGeom prst="ellipse">
            <a:avLst/>
          </a:prstGeom>
          <a:solidFill>
            <a:srgbClr val="E08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3387851"/>
            <a:ext cx="3246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234353"/>
                </a:solidFill>
                <a:latin typeface="Aptos"/>
              </a:defRPr>
            </a:pPr>
            <a:r>
              <a:t>01  INPUT 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753611"/>
            <a:ext cx="3246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900" b="0" i="1">
                <a:solidFill>
                  <a:srgbClr val="707775"/>
                </a:solidFill>
                <a:latin typeface="Aptos"/>
              </a:defRPr>
            </a:pPr>
            <a:r>
              <a:t>Original low-light road 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83080"/>
            <a:ext cx="3520440" cy="3246120"/>
          </a:xfrm>
          <a:prstGeom prst="roundRect">
            <a:avLst/>
          </a:prstGeom>
          <a:solidFill>
            <a:srgbClr val="F2F0E7"/>
          </a:solidFill>
          <a:ln w="17780">
            <a:solidFill>
              <a:srgbClr val="5E94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75020" y="2103120"/>
            <a:ext cx="457200" cy="310896"/>
          </a:xfrm>
          <a:prstGeom prst="rect">
            <a:avLst/>
          </a:prstGeom>
          <a:noFill/>
          <a:ln w="15240">
            <a:solidFill>
              <a:srgbClr val="5E9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66459" y="2167128"/>
            <a:ext cx="82296" cy="82296"/>
          </a:xfrm>
          <a:prstGeom prst="ellipse">
            <a:avLst/>
          </a:prstGeom>
          <a:solidFill>
            <a:srgbClr val="E08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3387851"/>
            <a:ext cx="3246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234353"/>
                </a:solidFill>
                <a:latin typeface="Aptos"/>
              </a:defRPr>
            </a:pPr>
            <a:r>
              <a:t>02  YOLO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753611"/>
            <a:ext cx="3246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900" b="0" i="1">
                <a:solidFill>
                  <a:srgbClr val="707775"/>
                </a:solidFill>
                <a:latin typeface="Aptos"/>
              </a:defRPr>
            </a:pPr>
            <a:r>
              <a:t>Bounding box + confidence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783080"/>
            <a:ext cx="3520440" cy="3246120"/>
          </a:xfrm>
          <a:prstGeom prst="roundRect">
            <a:avLst/>
          </a:prstGeom>
          <a:solidFill>
            <a:srgbClr val="F2F0E7"/>
          </a:solidFill>
          <a:ln w="17780">
            <a:solidFill>
              <a:srgbClr val="5E94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60052" y="2103120"/>
            <a:ext cx="457200" cy="310896"/>
          </a:xfrm>
          <a:prstGeom prst="rect">
            <a:avLst/>
          </a:prstGeom>
          <a:noFill/>
          <a:ln w="15240">
            <a:solidFill>
              <a:srgbClr val="5E9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651492" y="2167128"/>
            <a:ext cx="82296" cy="82296"/>
          </a:xfrm>
          <a:prstGeom prst="ellipse">
            <a:avLst/>
          </a:prstGeom>
          <a:solidFill>
            <a:srgbClr val="E08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65592" y="3387851"/>
            <a:ext cx="3246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234353"/>
                </a:solidFill>
                <a:latin typeface="Aptos"/>
              </a:defRPr>
            </a:pPr>
            <a:r>
              <a:t>03  ANOTHER 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3753611"/>
            <a:ext cx="3246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900" b="0" i="1">
                <a:solidFill>
                  <a:srgbClr val="707775"/>
                </a:solidFill>
                <a:latin typeface="Aptos"/>
              </a:defRPr>
            </a:pPr>
            <a:r>
              <a:t>A second pothole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94960"/>
            <a:ext cx="10515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 i="1">
                <a:solidFill>
                  <a:srgbClr val="707775"/>
                </a:solidFill>
                <a:latin typeface="Aptos"/>
              </a:defRPr>
            </a:pPr>
            <a:r>
              <a:t>Suggested caption: “Detected pothole regions are highlighted by bounding boxes; confidence scores are shown above each prediction.”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750" b="1" i="0">
                <a:solidFill>
                  <a:srgbClr val="707775"/>
                </a:solidFill>
                <a:latin typeface="Aptos"/>
              </a:defRPr>
            </a:pPr>
            <a:r>
              <a:t>IMAGE PROCESSING &amp; COMPUTER VISION  /  MNNIT ALLAHABAD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5E9491"/>
                </a:solidFill>
                <a:latin typeface="Aptos"/>
              </a:defRPr>
            </a:pPr>
            <a:r>
              <a:t>VISUAL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707775"/>
                </a:solidFill>
                <a:latin typeface="Aptos"/>
              </a:defRPr>
            </a:pPr>
            <a:r>
              <a:t>13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566928"/>
            <a:ext cx="11036808" cy="0"/>
          </a:xfrm>
          <a:prstGeom prst="line">
            <a:avLst/>
          </a:prstGeom>
          <a:ln w="13970">
            <a:solidFill>
              <a:srgbClr val="E8E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749808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234353"/>
                </a:solidFill>
                <a:latin typeface="Aptos Display"/>
              </a:defRPr>
            </a:pPr>
            <a:r>
              <a:t>Synthetic training. Real-night evaluation.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707775"/>
                </a:solidFill>
                <a:latin typeface="Aptos"/>
              </a:defRPr>
            </a:pPr>
            <a:r>
              <a:t>Replace the placeholders with representative examples from your own inference outputs.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57800" cy="3291840"/>
          </a:xfrm>
          <a:prstGeom prst="roundRect">
            <a:avLst/>
          </a:prstGeom>
          <a:solidFill>
            <a:srgbClr val="F2F0E7"/>
          </a:solidFill>
          <a:ln w="17780">
            <a:solidFill>
              <a:srgbClr val="5E94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131820" y="2148840"/>
            <a:ext cx="457200" cy="310896"/>
          </a:xfrm>
          <a:prstGeom prst="rect">
            <a:avLst/>
          </a:prstGeom>
          <a:noFill/>
          <a:ln w="15240">
            <a:solidFill>
              <a:srgbClr val="5E9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223260" y="2212848"/>
            <a:ext cx="82296" cy="82296"/>
          </a:xfrm>
          <a:prstGeom prst="ellipse">
            <a:avLst/>
          </a:prstGeom>
          <a:solidFill>
            <a:srgbClr val="E08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456432"/>
            <a:ext cx="4983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234353"/>
                </a:solidFill>
                <a:latin typeface="Aptos"/>
              </a:defRPr>
            </a:pPr>
            <a:r>
              <a:t>GROUND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22191"/>
            <a:ext cx="4983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900" b="0" i="1">
                <a:solidFill>
                  <a:srgbClr val="707775"/>
                </a:solidFill>
                <a:latin typeface="Aptos"/>
              </a:defRPr>
            </a:pPr>
            <a:r>
              <a:t>Annotated pothole locations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57800" cy="3291840"/>
          </a:xfrm>
          <a:prstGeom prst="roundRect">
            <a:avLst/>
          </a:prstGeom>
          <a:solidFill>
            <a:srgbClr val="F2F0E7"/>
          </a:solidFill>
          <a:ln w="17780">
            <a:solidFill>
              <a:srgbClr val="5E94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18220" y="2148840"/>
            <a:ext cx="457200" cy="310896"/>
          </a:xfrm>
          <a:prstGeom prst="rect">
            <a:avLst/>
          </a:prstGeom>
          <a:noFill/>
          <a:ln w="15240">
            <a:solidFill>
              <a:srgbClr val="5E9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709660" y="2212848"/>
            <a:ext cx="82296" cy="82296"/>
          </a:xfrm>
          <a:prstGeom prst="ellipse">
            <a:avLst/>
          </a:prstGeom>
          <a:solidFill>
            <a:srgbClr val="E08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3456432"/>
            <a:ext cx="4983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234353"/>
                </a:solidFill>
                <a:latin typeface="Aptos"/>
              </a:defRPr>
            </a:pPr>
            <a:r>
              <a:t>MODEL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822191"/>
            <a:ext cx="4983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900" b="0" i="1">
                <a:solidFill>
                  <a:srgbClr val="707775"/>
                </a:solidFill>
                <a:latin typeface="Aptos"/>
              </a:defRPr>
            </a:pPr>
            <a:r>
              <a:t>YOLO11m fine-tuned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486400"/>
            <a:ext cx="104241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B05345"/>
                </a:solidFill>
                <a:latin typeface="Aptos"/>
              </a:defRPr>
            </a:pPr>
            <a:r>
              <a:t>For a fair visual comparison, use the exact same image in both panels and preserve the original annotation/prediction overlays.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750" b="1" i="0">
                <a:solidFill>
                  <a:srgbClr val="707775"/>
                </a:solidFill>
                <a:latin typeface="Aptos"/>
              </a:defRPr>
            </a:pPr>
            <a:r>
              <a:t>IMAGE PROCESSING &amp; COMPUTER VISION  /  MNNIT ALLAHABAD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5E9491"/>
                </a:solidFill>
                <a:latin typeface="Aptos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707775"/>
                </a:solidFill>
                <a:latin typeface="Aptos"/>
              </a:defRPr>
            </a:pPr>
            <a:r>
              <a:t>14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566928"/>
            <a:ext cx="11036808" cy="0"/>
          </a:xfrm>
          <a:prstGeom prst="line">
            <a:avLst/>
          </a:prstGeom>
          <a:ln w="13970">
            <a:solidFill>
              <a:srgbClr val="E8E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749808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234353"/>
                </a:solidFill>
                <a:latin typeface="Aptos Display"/>
              </a:defRPr>
            </a:pPr>
            <a:r>
              <a:t>What the results tell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707775"/>
                </a:solidFill>
                <a:latin typeface="Aptos"/>
              </a:defRPr>
            </a:pPr>
            <a:r>
              <a:t>The central lesson is not simply which model scored highest.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3429000" cy="182880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109728" cy="109728"/>
          </a:xfrm>
          <a:prstGeom prst="ellipse">
            <a:avLst/>
          </a:prstGeom>
          <a:solidFill>
            <a:srgbClr val="5E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892807"/>
            <a:ext cx="289864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34353"/>
                </a:solidFill>
                <a:latin typeface="Aptos"/>
              </a:defRPr>
            </a:pPr>
            <a:r>
              <a:t>What worked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13432"/>
            <a:ext cx="3044952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All three model experiments learned useful pothole patterns in the synthetic-night domain.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783080"/>
            <a:ext cx="3429000" cy="182880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35424" y="1947672"/>
            <a:ext cx="109728" cy="109728"/>
          </a:xfrm>
          <a:prstGeom prst="ellipse">
            <a:avLst/>
          </a:prstGeom>
          <a:solidFill>
            <a:srgbClr val="E08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892807"/>
            <a:ext cx="289864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34353"/>
                </a:solidFill>
                <a:latin typeface="Aptos"/>
              </a:defRPr>
            </a:pPr>
            <a:r>
              <a:t>What changed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13432"/>
            <a:ext cx="3044952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Performance dropped on real-night images, even after synthetic-domain fine-tuning.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783080"/>
            <a:ext cx="3429000" cy="182880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193023" y="1947672"/>
            <a:ext cx="109728" cy="109728"/>
          </a:xfrm>
          <a:prstGeom prst="ellipse">
            <a:avLst/>
          </a:prstGeom>
          <a:solidFill>
            <a:srgbClr val="9BA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94192" y="1892807"/>
            <a:ext cx="289864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34353"/>
                </a:solidFill>
                <a:latin typeface="Aptos"/>
              </a:defRPr>
            </a:pPr>
            <a:r>
              <a:t>What remains hard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13432"/>
            <a:ext cx="3044952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32B2F"/>
                </a:solidFill>
                <a:latin typeface="Aptos"/>
              </a:defRPr>
            </a:pPr>
            <a:r>
              <a:t>Small potholes, false positives and differences between synthetic and real imagery.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51960"/>
            <a:ext cx="2834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B05345"/>
                </a:solidFill>
                <a:latin typeface="Aptos"/>
              </a:defRPr>
            </a:pPr>
            <a:r>
              <a:t>Interpret results with care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17720"/>
            <a:ext cx="10424160" cy="1508760"/>
          </a:xfrm>
          <a:prstGeom prst="rect">
            <a:avLst/>
          </a:prstGeom>
          <a:noFill/>
        </p:spPr>
        <p:txBody>
          <a:bodyPr wrap="square" lIns="54864" tIns="27432" rIns="45720" bIns="27432">
            <a:spAutoFit/>
          </a:bodyPr>
          <a:lstStyle/>
          <a:p>
            <a:pPr>
              <a:spcAft>
                <a:spcPts val="900"/>
              </a:spcAft>
              <a:defRPr sz="1100">
                <a:solidFill>
                  <a:srgbClr val="232B2F"/>
                </a:solidFill>
                <a:latin typeface="Aptos"/>
              </a:defRPr>
            </a:pPr>
            <a:r>
              <a:t>–  Real-night images came from one source folder and were not independently partitioned.</a:t>
            </a:r>
          </a:p>
          <a:p>
            <a:pPr>
              <a:spcAft>
                <a:spcPts val="900"/>
              </a:spcAft>
              <a:defRPr sz="1100">
                <a:solidFill>
                  <a:srgbClr val="232B2F"/>
                </a:solidFill>
                <a:latin typeface="Aptos"/>
              </a:defRPr>
            </a:pPr>
            <a:r>
              <a:t>–  The real dataset's target class was selected manually; annotation completeness may affect evaluation.</a:t>
            </a:r>
          </a:p>
          <a:p>
            <a:pPr>
              <a:spcAft>
                <a:spcPts val="900"/>
              </a:spcAft>
              <a:defRPr sz="1100">
                <a:solidFill>
                  <a:srgbClr val="232B2F"/>
                </a:solidFill>
                <a:latin typeface="Aptos"/>
              </a:defRPr>
            </a:pPr>
            <a:r>
              <a:t>–  YOLOv8 and YOLO11m used different input sizes, versions and evaluation procedures.</a:t>
            </a:r>
          </a:p>
          <a:p>
            <a:pPr>
              <a:spcAft>
                <a:spcPts val="900"/>
              </a:spcAft>
              <a:defRPr sz="1100">
                <a:solidFill>
                  <a:srgbClr val="232B2F"/>
                </a:solidFill>
                <a:latin typeface="Aptos"/>
              </a:defRPr>
            </a:pPr>
            <a:r>
              <a:t>–  Only one YOLO11m training run was reported; repeated-seed uncertainty is unavailable.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750" b="1" i="0">
                <a:solidFill>
                  <a:srgbClr val="707775"/>
                </a:solidFill>
                <a:latin typeface="Aptos"/>
              </a:defRPr>
            </a:pPr>
            <a:r>
              <a:t>IMAGE PROCESSING &amp; COMPUTER VISION  /  MNNIT ALLAHABAD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5E9491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707775"/>
                </a:solidFill>
                <a:latin typeface="Aptos"/>
              </a:defRPr>
            </a:pPr>
            <a:r>
              <a:t>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566928"/>
            <a:ext cx="11036808" cy="0"/>
          </a:xfrm>
          <a:prstGeom prst="line">
            <a:avLst/>
          </a:prstGeom>
          <a:ln w="13970">
            <a:solidFill>
              <a:srgbClr val="E8E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960120"/>
            <a:ext cx="6583680" cy="2057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3000" b="1" i="0">
                <a:solidFill>
                  <a:srgbClr val="234353"/>
                </a:solidFill>
                <a:latin typeface="Aptos Display"/>
              </a:defRPr>
            </a:pPr>
            <a:r>
              <a:t>A detector can learn</a:t>
            </a:r>
          </a:p>
          <a:p>
            <a:pPr algn="l">
              <a:spcAft>
                <a:spcPts val="400"/>
              </a:spcAft>
              <a:defRPr sz="3000" b="1" i="0">
                <a:solidFill>
                  <a:srgbClr val="234353"/>
                </a:solidFill>
                <a:latin typeface="Aptos Display"/>
              </a:defRPr>
            </a:pPr>
            <a:r>
              <a:t>the darkness we create —</a:t>
            </a:r>
          </a:p>
          <a:p>
            <a:pPr algn="l">
              <a:spcAft>
                <a:spcPts val="400"/>
              </a:spcAft>
              <a:defRPr sz="3000" b="1" i="0">
                <a:solidFill>
                  <a:srgbClr val="234353"/>
                </a:solidFill>
                <a:latin typeface="Aptos Display"/>
              </a:defRPr>
            </a:pPr>
            <a:r>
              <a:t>but real roads are harder.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29000"/>
            <a:ext cx="58521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0" i="0">
                <a:solidFill>
                  <a:srgbClr val="232B2F"/>
                </a:solidFill>
                <a:latin typeface="Aptos"/>
              </a:defRPr>
            </a:pPr>
            <a:r>
              <a:t>The project built a pothole-only synthetic-night dataset and evaluated YOLOv8n, YOLOv8s and YOLO11m pipelines.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17320"/>
            <a:ext cx="3931920" cy="3383280"/>
          </a:xfrm>
          <a:prstGeom prst="roundRect">
            <a:avLst/>
          </a:prstGeom>
          <a:solidFill>
            <a:srgbClr val="DCEBE1"/>
          </a:solidFill>
          <a:ln w="15240">
            <a:solidFill>
              <a:srgbClr val="5E9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783080"/>
            <a:ext cx="3200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5E9491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240280"/>
            <a:ext cx="320040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2100" b="1" i="0">
                <a:solidFill>
                  <a:srgbClr val="234353"/>
                </a:solidFill>
                <a:latin typeface="Aptos"/>
              </a:defRPr>
            </a:pPr>
            <a:r>
              <a:rPr dirty="0"/>
              <a:t>Synthetic-night</a:t>
            </a:r>
          </a:p>
          <a:p>
            <a:pPr algn="ctr">
              <a:spcAft>
                <a:spcPts val="400"/>
              </a:spcAft>
              <a:defRPr sz="2100" b="1" i="0">
                <a:solidFill>
                  <a:srgbClr val="234353"/>
                </a:solidFill>
                <a:latin typeface="Aptos"/>
              </a:defRPr>
            </a:pPr>
            <a:r>
              <a:rPr dirty="0"/>
              <a:t>mAP@0.5</a:t>
            </a:r>
          </a:p>
          <a:p>
            <a:pPr algn="ctr">
              <a:spcAft>
                <a:spcPts val="400"/>
              </a:spcAft>
              <a:defRPr sz="2100" b="1" i="0">
                <a:solidFill>
                  <a:srgbClr val="234353"/>
                </a:solidFill>
                <a:latin typeface="Aptos"/>
              </a:defRPr>
            </a:pPr>
            <a:r>
              <a:rPr dirty="0"/>
              <a:t>60.72%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611880"/>
            <a:ext cx="3200400" cy="105362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900" b="1" i="0">
                <a:solidFill>
                  <a:srgbClr val="E08F53"/>
                </a:solidFill>
                <a:latin typeface="Aptos"/>
              </a:defRPr>
            </a:pPr>
            <a:r>
              <a:rPr lang="en-IN" dirty="0"/>
              <a:t>Real-night</a:t>
            </a:r>
          </a:p>
          <a:p>
            <a:pPr algn="ctr">
              <a:spcAft>
                <a:spcPts val="400"/>
              </a:spcAft>
              <a:defRPr sz="1900" b="1" i="0">
                <a:solidFill>
                  <a:srgbClr val="E08F53"/>
                </a:solidFill>
                <a:latin typeface="Aptos"/>
              </a:defRPr>
            </a:pPr>
            <a:r>
              <a:rPr lang="en-IN" dirty="0"/>
              <a:t>mAP@0.5</a:t>
            </a:r>
          </a:p>
          <a:p>
            <a:pPr algn="ctr">
              <a:spcAft>
                <a:spcPts val="400"/>
              </a:spcAft>
              <a:defRPr sz="1900" b="1" i="0">
                <a:solidFill>
                  <a:srgbClr val="E08F53"/>
                </a:solidFill>
                <a:latin typeface="Aptos"/>
              </a:defRPr>
            </a:pPr>
            <a:r>
              <a:rPr lang="en-IN" dirty="0"/>
              <a:t>16.79%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2743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5E9491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750" b="1" i="0">
                <a:solidFill>
                  <a:srgbClr val="707775"/>
                </a:solidFill>
                <a:latin typeface="Aptos"/>
              </a:defRPr>
            </a:pPr>
            <a:r>
              <a:t>IMAGE PROCESSING &amp; COMPUTER VISION  /  MNNIT ALLAHABAD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1484</Words>
  <Application>Microsoft Office PowerPoint</Application>
  <PresentationFormat>Widescreen</PresentationFormat>
  <Paragraphs>310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Nighttime Pothole Detection</dc:title>
  <dc:subject>Image Processing and Computer Vision</dc:subject>
  <dc:creator>Project Team</dc:creator>
  <cp:keywords>pothole detection, YOLOv8, YOLO11m, computer vision, nighttime</cp:keywords>
  <dc:description>generated using python-pptx</dc:description>
  <cp:lastModifiedBy>Tanmay Paul</cp:lastModifiedBy>
  <cp:revision>2</cp:revision>
  <dcterms:created xsi:type="dcterms:W3CDTF">2013-01-27T09:14:16Z</dcterms:created>
  <dcterms:modified xsi:type="dcterms:W3CDTF">2026-10-30T14:29:58Z</dcterms:modified>
  <cp:category/>
</cp:coreProperties>
</file>